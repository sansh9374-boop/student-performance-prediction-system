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3327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Student Performance Prediction System</a:t>
            </a:r>
          </a:p>
          <a:p>
            <a:pPr algn="ctr">
              <a:defRPr sz="2400"/>
            </a:pPr>
            <a:r>
              <a:t>Machine Learning Capstone Project</a:t>
            </a:r>
          </a:p>
          <a:p>
            <a:pPr algn="ctr">
              <a:defRPr sz="1800"/>
            </a:pPr>
            <a:r>
              <a:t>Academic Analytics • Prediction • Dashboard • Recommendations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1.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Analyze academic data to understand factors affecting student performance.</a:t>
            </a:r>
          </a:p>
          <a:p>
            <a:pPr>
              <a:spcAft>
                <a:spcPts val="1000"/>
              </a:spcAft>
              <a:defRPr sz="2000"/>
            </a:pPr>
            <a:r>
              <a:t>Predict performance level: High, Average, or Low.</a:t>
            </a:r>
          </a:p>
          <a:p>
            <a:pPr>
              <a:spcAft>
                <a:spcPts val="1000"/>
              </a:spcAft>
              <a:defRPr sz="2000"/>
            </a:pPr>
            <a:r>
              <a:t>Generate actionable improvement recommendations.</a:t>
            </a:r>
          </a:p>
          <a:p>
            <a:pPr>
              <a:spcAft>
                <a:spcPts val="1000"/>
              </a:spcAft>
              <a:defRPr sz="2000"/>
            </a:pPr>
            <a:r>
              <a:t>Present insights through an interactive dashboard.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 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Data analysis and preprocessing</a:t>
            </a:r>
          </a:p>
          <a:p>
            <a:pPr>
              <a:spcAft>
                <a:spcPts val="1000"/>
              </a:spcAft>
              <a:defRPr sz="2000"/>
            </a:pPr>
            <a:r>
              <a:t>Machine learning prediction</a:t>
            </a:r>
          </a:p>
          <a:p>
            <a:pPr>
              <a:spcAft>
                <a:spcPts val="1000"/>
              </a:spcAft>
              <a:defRPr sz="2000"/>
            </a:pPr>
            <a:r>
              <a:t>Factor identification and visualization</a:t>
            </a:r>
          </a:p>
          <a:p>
            <a:pPr>
              <a:spcAft>
                <a:spcPts val="1000"/>
              </a:spcAft>
              <a:defRPr sz="2000"/>
            </a:pPr>
            <a:r>
              <a:t>Performance insights</a:t>
            </a:r>
          </a:p>
          <a:p>
            <a:pPr>
              <a:spcAft>
                <a:spcPts val="1000"/>
              </a:spcAft>
              <a:defRPr sz="2000"/>
            </a:pPr>
            <a:r>
              <a:t>Dashboard-based student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Dataset &amp;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Self-created academic dataset: 1,003 raw rows → 1,000 cleaned rows.</a:t>
            </a:r>
          </a:p>
          <a:p>
            <a:pPr>
              <a:spcAft>
                <a:spcPts val="1000"/>
              </a:spcAft>
              <a:defRPr sz="2000"/>
            </a:pPr>
            <a:r>
              <a:t>Numeric: attendance, study hours, internal marks, participation, previous score, assignment completion, weak subjects.</a:t>
            </a:r>
          </a:p>
          <a:p>
            <a:pPr>
              <a:spcAft>
                <a:spcPts val="1000"/>
              </a:spcAft>
              <a:defRPr sz="2000"/>
            </a:pPr>
            <a:r>
              <a:t>Categorical: gender, study mode, subject.</a:t>
            </a:r>
          </a:p>
          <a:p>
            <a:pPr>
              <a:spcAft>
                <a:spcPts val="1000"/>
              </a:spcAft>
              <a:defRPr sz="2000"/>
            </a:pPr>
            <a:r>
              <a:t>Targets: final score and performance level.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4. Data 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Missing values handled with imputation.</a:t>
            </a:r>
          </a:p>
          <a:p>
            <a:pPr>
              <a:spcAft>
                <a:spcPts val="1000"/>
              </a:spcAft>
              <a:defRPr sz="2000"/>
            </a:pPr>
            <a:r>
              <a:t>Duplicate records removed.</a:t>
            </a:r>
          </a:p>
          <a:p>
            <a:pPr>
              <a:spcAft>
                <a:spcPts val="1000"/>
              </a:spcAft>
              <a:defRPr sz="2000"/>
            </a:pPr>
            <a:r>
              <a:t>Categorical variables encoded using one-hot encoding.</a:t>
            </a:r>
          </a:p>
          <a:p>
            <a:pPr>
              <a:spcAft>
                <a:spcPts val="1000"/>
              </a:spcAft>
              <a:defRPr sz="2000"/>
            </a:pPr>
            <a:r>
              <a:t>Numeric features normalized using StandardScaler.</a:t>
            </a:r>
          </a:p>
          <a:p>
            <a:pPr>
              <a:spcAft>
                <a:spcPts val="1000"/>
              </a:spcAft>
              <a:defRPr sz="2000"/>
            </a:pPr>
            <a:r>
              <a:t>Reusable Scikit-learn preprocessing pipeline.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5. Exploratory Data Analysis</a:t>
            </a:r>
          </a:p>
        </p:txBody>
      </p:sp>
      <p:pic>
        <p:nvPicPr>
          <p:cNvPr id="4" name="Picture 3" descr="01_performanc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188720"/>
            <a:ext cx="10149840" cy="608990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6. Feature Relationship Analysis</a:t>
            </a:r>
          </a:p>
        </p:txBody>
      </p:sp>
      <p:pic>
        <p:nvPicPr>
          <p:cNvPr id="4" name="Picture 3" descr="03_feature_corre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188720"/>
            <a:ext cx="10149840" cy="608990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7. Machine Learning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Random Forest Classifier — accuracy 0.760.</a:t>
            </a:r>
          </a:p>
          <a:p>
            <a:pPr>
              <a:spcAft>
                <a:spcPts val="1000"/>
              </a:spcAft>
              <a:defRPr sz="2000"/>
            </a:pPr>
            <a:r>
              <a:t>Decision Tree Classifier — accuracy 0.675.</a:t>
            </a:r>
          </a:p>
          <a:p>
            <a:pPr>
              <a:spcAft>
                <a:spcPts val="1000"/>
              </a:spcAft>
              <a:defRPr sz="2000"/>
            </a:pPr>
            <a:r>
              <a:t>Linear Regression — MAE 4.46, R² 0.815.</a:t>
            </a:r>
          </a:p>
          <a:p>
            <a:pPr>
              <a:spcAft>
                <a:spcPts val="1000"/>
              </a:spcAft>
              <a:defRPr sz="2000"/>
            </a:pPr>
            <a:r>
              <a:t>Random Forest Regressor — MAE 5.05, R² 0.767.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8. Prediction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Student inputs → preprocessing pipeline → trained classifier/regressor → predicted score + performance level.</a:t>
            </a:r>
          </a:p>
          <a:p>
            <a:pPr>
              <a:spcAft>
                <a:spcPts val="1000"/>
              </a:spcAft>
              <a:defRPr sz="2000"/>
            </a:pPr>
            <a:r>
              <a:t>Prediction → recommendation rules → personalized improvement suggestions.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9. Dashboard</a:t>
            </a:r>
          </a:p>
        </p:txBody>
      </p:sp>
      <p:pic>
        <p:nvPicPr>
          <p:cNvPr id="4" name="Picture 3" descr="04_dashboard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188720"/>
            <a:ext cx="10149840" cy="575553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10. Recommendation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Increase study hours when needed.</a:t>
            </a:r>
          </a:p>
          <a:p>
            <a:pPr>
              <a:spcAft>
                <a:spcPts val="1000"/>
              </a:spcAft>
              <a:defRPr sz="2000"/>
            </a:pPr>
            <a:r>
              <a:t>Improve attendance.</a:t>
            </a:r>
          </a:p>
          <a:p>
            <a:pPr>
              <a:spcAft>
                <a:spcPts val="1000"/>
              </a:spcAft>
              <a:defRPr sz="2000"/>
            </a:pPr>
            <a:r>
              <a:t>Focus on weak subjects.</a:t>
            </a:r>
          </a:p>
          <a:p>
            <a:pPr>
              <a:spcAft>
                <a:spcPts val="1000"/>
              </a:spcAft>
              <a:defRPr sz="2000"/>
            </a:pPr>
            <a:r>
              <a:t>Attend practice sessions and participate.</a:t>
            </a:r>
          </a:p>
          <a:p>
            <a:pPr>
              <a:spcAft>
                <a:spcPts val="1000"/>
              </a:spcAft>
              <a:defRPr sz="2000"/>
            </a:pPr>
            <a:r>
              <a:t>Improve assignment completion and internal assessment preparation.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11. 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Python, Pandas, NumPy</a:t>
            </a:r>
          </a:p>
          <a:p>
            <a:pPr>
              <a:spcAft>
                <a:spcPts val="1000"/>
              </a:spcAft>
              <a:defRPr sz="2000"/>
            </a:pPr>
            <a:r>
              <a:t>Scikit-learn</a:t>
            </a:r>
          </a:p>
          <a:p>
            <a:pPr>
              <a:spcAft>
                <a:spcPts val="1000"/>
              </a:spcAft>
              <a:defRPr sz="2000"/>
            </a:pPr>
            <a:r>
              <a:t>Matplotlib, Seaborn</a:t>
            </a:r>
          </a:p>
          <a:p>
            <a:pPr>
              <a:spcAft>
                <a:spcPts val="1000"/>
              </a:spcAft>
              <a:defRPr sz="2000"/>
            </a:pPr>
            <a:r>
              <a:t>Streamlit</a:t>
            </a:r>
          </a:p>
          <a:p>
            <a:pPr>
              <a:spcAft>
                <a:spcPts val="1000"/>
              </a:spcAft>
              <a:defRPr sz="2000"/>
            </a:pPr>
            <a:r>
              <a:t>Joblib</a:t>
            </a:r>
          </a:p>
          <a:p>
            <a:pPr>
              <a:spcAft>
                <a:spcPts val="1000"/>
              </a:spcAft>
              <a:defRPr sz="2000"/>
            </a:pPr>
            <a:r>
              <a:t>Deployment-ready for Streamlit Cloud / Render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12. Scope &amp;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No deep learning.</a:t>
            </a:r>
          </a:p>
          <a:p>
            <a:pPr>
              <a:spcAft>
                <a:spcPts val="1000"/>
              </a:spcAft>
              <a:defRPr sz="2000"/>
            </a:pPr>
            <a:r>
              <a:t>No real-time student monitoring.</a:t>
            </a:r>
          </a:p>
          <a:p>
            <a:pPr>
              <a:spcAft>
                <a:spcPts val="1000"/>
              </a:spcAft>
              <a:defRPr sz="2000"/>
            </a:pPr>
            <a:r>
              <a:t>No large-scale educational platform.</a:t>
            </a:r>
          </a:p>
          <a:p>
            <a:pPr>
              <a:spcAft>
                <a:spcPts val="1000"/>
              </a:spcAft>
              <a:defRPr sz="2000"/>
            </a:pPr>
            <a:r>
              <a:t>No complex AI architecture.</a:t>
            </a:r>
          </a:p>
          <a:p>
            <a:pPr>
              <a:spcAft>
                <a:spcPts val="1000"/>
              </a:spcAft>
              <a:defRPr sz="2000"/>
            </a:pPr>
            <a:r>
              <a:t>Focused on a clean, functional prediction system.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13. 25-Day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Days 1–3: Requirements + dataset</a:t>
            </a:r>
          </a:p>
          <a:p>
            <a:pPr>
              <a:spcAft>
                <a:spcPts val="1000"/>
              </a:spcAft>
              <a:defRPr sz="2000"/>
            </a:pPr>
            <a:r>
              <a:t>Days 4–7: Cleaning + preprocessing</a:t>
            </a:r>
          </a:p>
          <a:p>
            <a:pPr>
              <a:spcAft>
                <a:spcPts val="1000"/>
              </a:spcAft>
              <a:defRPr sz="2000"/>
            </a:pPr>
            <a:r>
              <a:t>Days 8–12: EDA</a:t>
            </a:r>
          </a:p>
          <a:p>
            <a:pPr>
              <a:spcAft>
                <a:spcPts val="1000"/>
              </a:spcAft>
              <a:defRPr sz="2000"/>
            </a:pPr>
            <a:r>
              <a:t>Days 13–17: ML models</a:t>
            </a:r>
          </a:p>
          <a:p>
            <a:pPr>
              <a:spcAft>
                <a:spcPts val="1000"/>
              </a:spcAft>
              <a:defRPr sz="2000"/>
            </a:pPr>
            <a:r>
              <a:t>Days 18–21: Dashboard</a:t>
            </a:r>
          </a:p>
          <a:p>
            <a:pPr>
              <a:spcAft>
                <a:spcPts val="1000"/>
              </a:spcAft>
              <a:defRPr sz="2000"/>
            </a:pPr>
            <a:r>
              <a:t>Days 22–23: Recommendations</a:t>
            </a:r>
          </a:p>
          <a:p>
            <a:pPr>
              <a:spcAft>
                <a:spcPts val="1000"/>
              </a:spcAft>
              <a:defRPr sz="2000"/>
            </a:pPr>
            <a:r>
              <a:t>Day 24: Testing</a:t>
            </a:r>
          </a:p>
          <a:p>
            <a:pPr>
              <a:spcAft>
                <a:spcPts val="1000"/>
              </a:spcAft>
              <a:defRPr sz="2000"/>
            </a:pPr>
            <a:r>
              <a:t>Day 25: Deployment + presentation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14.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Source code</a:t>
            </a:r>
          </a:p>
          <a:p>
            <a:pPr>
              <a:spcAft>
                <a:spcPts val="1000"/>
              </a:spcAft>
              <a:defRPr sz="2000"/>
            </a:pPr>
            <a:r>
              <a:t>Project report</a:t>
            </a:r>
          </a:p>
          <a:p>
            <a:pPr>
              <a:spcAft>
                <a:spcPts val="1000"/>
              </a:spcAft>
              <a:defRPr sz="2000"/>
            </a:pPr>
            <a:r>
              <a:t>PPT presentation</a:t>
            </a:r>
          </a:p>
          <a:p>
            <a:pPr>
              <a:spcAft>
                <a:spcPts val="1000"/>
              </a:spcAft>
              <a:defRPr sz="2000"/>
            </a:pPr>
            <a:r>
              <a:t>GitHub-ready repository structure</a:t>
            </a:r>
          </a:p>
          <a:p>
            <a:pPr>
              <a:spcAft>
                <a:spcPts val="1000"/>
              </a:spcAft>
              <a:defRPr sz="2000"/>
            </a:pPr>
            <a:r>
              <a:t>Dashboard screenshots</a:t>
            </a:r>
          </a:p>
          <a:p>
            <a:pPr>
              <a:spcAft>
                <a:spcPts val="1000"/>
              </a:spcAft>
              <a:defRPr sz="2000"/>
            </a:pPr>
            <a:r>
              <a:t>Deployment-ready application</a:t>
            </a:r>
          </a:p>
          <a:p>
            <a:pPr>
              <a:spcAft>
                <a:spcPts val="1000"/>
              </a:spcAft>
              <a:defRPr sz="2000"/>
            </a:pPr>
            <a:r>
              <a:t>Demo-video recording plan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15. Final Outcome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An end-to-end Student Performance Prediction platform.</a:t>
            </a:r>
          </a:p>
          <a:p>
            <a:pPr>
              <a:spcAft>
                <a:spcPts val="1000"/>
              </a:spcAft>
              <a:defRPr sz="2000"/>
            </a:pPr>
            <a:r>
              <a:t>Analyzes academic data.</a:t>
            </a:r>
          </a:p>
          <a:p>
            <a:pPr>
              <a:spcAft>
                <a:spcPts val="1000"/>
              </a:spcAft>
              <a:defRPr sz="2000"/>
            </a:pPr>
            <a:r>
              <a:t>Predicts student outcomes.</a:t>
            </a:r>
          </a:p>
          <a:p>
            <a:pPr>
              <a:spcAft>
                <a:spcPts val="1000"/>
              </a:spcAft>
              <a:defRPr sz="2000"/>
            </a:pPr>
            <a:r>
              <a:t>Visualizes performance analytics.</a:t>
            </a:r>
          </a:p>
          <a:p>
            <a:pPr>
              <a:spcAft>
                <a:spcPts val="1000"/>
              </a:spcAft>
              <a:defRPr sz="2000"/>
            </a:pPr>
            <a:r>
              <a:t>Generates improvement insights.</a:t>
            </a:r>
          </a:p>
          <a:p>
            <a:pPr>
              <a:spcAft>
                <a:spcPts val="1000"/>
              </a:spcAft>
              <a:defRPr sz="2000"/>
            </a:pPr>
            <a:r>
              <a:t>Matches the supplied capstone brief and evaluation structure.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